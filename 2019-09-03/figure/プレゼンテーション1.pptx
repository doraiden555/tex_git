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28211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9194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50609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77642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2210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9565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89633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3693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6994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29609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11837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391B90-8A79-412C-89FE-F2A94E6B2FAF}" type="datetimeFigureOut">
              <a:rPr kumimoji="1" lang="ja-JP" altLang="en-US" smtClean="0"/>
              <a:t>2019/11/4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17401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3.pn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067" y="175695"/>
            <a:ext cx="1716045" cy="1716045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8856" y="107180"/>
            <a:ext cx="1853074" cy="1853074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cxnSp>
        <p:nvCxnSpPr>
          <p:cNvPr id="12" name="直線コネクタ 11"/>
          <p:cNvCxnSpPr>
            <a:stCxn id="47" idx="3"/>
          </p:cNvCxnSpPr>
          <p:nvPr/>
        </p:nvCxnSpPr>
        <p:spPr>
          <a:xfrm>
            <a:off x="4529427" y="5658050"/>
            <a:ext cx="12047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6" idx="3"/>
            <a:endCxn id="8" idx="1"/>
          </p:cNvCxnSpPr>
          <p:nvPr/>
        </p:nvCxnSpPr>
        <p:spPr>
          <a:xfrm flipV="1">
            <a:off x="4615112" y="1033717"/>
            <a:ext cx="793744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コネクタ 18"/>
          <p:cNvCxnSpPr/>
          <p:nvPr/>
        </p:nvCxnSpPr>
        <p:spPr>
          <a:xfrm flipH="1">
            <a:off x="3934287" y="1891740"/>
            <a:ext cx="0" cy="42412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線コネクタ 20"/>
          <p:cNvCxnSpPr>
            <a:endCxn id="4" idx="0"/>
          </p:cNvCxnSpPr>
          <p:nvPr/>
        </p:nvCxnSpPr>
        <p:spPr>
          <a:xfrm>
            <a:off x="3509861" y="4383430"/>
            <a:ext cx="0" cy="53207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テキスト ボックス 24"/>
          <p:cNvSpPr txBox="1"/>
          <p:nvPr/>
        </p:nvSpPr>
        <p:spPr>
          <a:xfrm>
            <a:off x="4790700" y="5345777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4557773" y="3032015"/>
            <a:ext cx="799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4752938" y="687934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5717274" y="1604516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DWM1000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2837606" y="1514919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Arduino</a:t>
            </a:r>
            <a:r>
              <a:rPr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 Mini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2" name="グループ化 41"/>
          <p:cNvGrpSpPr/>
          <p:nvPr/>
        </p:nvGrpSpPr>
        <p:grpSpPr>
          <a:xfrm>
            <a:off x="2542669" y="2300840"/>
            <a:ext cx="2041832" cy="2090119"/>
            <a:chOff x="4507249" y="2370126"/>
            <a:chExt cx="2041832" cy="2090119"/>
          </a:xfrm>
        </p:grpSpPr>
        <p:pic>
          <p:nvPicPr>
            <p:cNvPr id="9" name="図 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3651" y="2370126"/>
              <a:ext cx="1931773" cy="1931773"/>
            </a:xfrm>
            <a:prstGeom prst="rect">
              <a:avLst/>
            </a:prstGeom>
            <a:ln w="12700">
              <a:noFill/>
            </a:ln>
          </p:spPr>
        </p:pic>
        <p:sp>
          <p:nvSpPr>
            <p:cNvPr id="34" name="テキスト ボックス 33"/>
            <p:cNvSpPr txBox="1"/>
            <p:nvPr/>
          </p:nvSpPr>
          <p:spPr>
            <a:xfrm>
              <a:off x="5059724" y="4082613"/>
              <a:ext cx="10141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NAVIO2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正方形/長方形 39"/>
            <p:cNvSpPr/>
            <p:nvPr/>
          </p:nvSpPr>
          <p:spPr>
            <a:xfrm>
              <a:off x="4507249" y="2385148"/>
              <a:ext cx="2041832" cy="2075097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" name="テキスト ボックス 1"/>
          <p:cNvSpPr txBox="1"/>
          <p:nvPr/>
        </p:nvSpPr>
        <p:spPr>
          <a:xfrm>
            <a:off x="5453412" y="1926002"/>
            <a:ext cx="1935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UWB antenna</a:t>
            </a:r>
            <a:endParaRPr kumimoji="1" lang="ja-JP" altLang="en-US" sz="24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311118" y="1854588"/>
            <a:ext cx="2198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 controller</a:t>
            </a:r>
            <a:endParaRPr kumimoji="1" lang="ja-JP" altLang="en-US" sz="24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7974669" y="4232613"/>
            <a:ext cx="21242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Optical flow</a:t>
            </a:r>
          </a:p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</a:p>
        </p:txBody>
      </p:sp>
      <p:grpSp>
        <p:nvGrpSpPr>
          <p:cNvPr id="24" name="グループ化 23"/>
          <p:cNvGrpSpPr/>
          <p:nvPr/>
        </p:nvGrpSpPr>
        <p:grpSpPr>
          <a:xfrm>
            <a:off x="5453412" y="4630362"/>
            <a:ext cx="2195986" cy="2192308"/>
            <a:chOff x="7169457" y="4409227"/>
            <a:chExt cx="2195986" cy="2192308"/>
          </a:xfrm>
        </p:grpSpPr>
        <p:pic>
          <p:nvPicPr>
            <p:cNvPr id="10" name="図 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40027" y="4409227"/>
              <a:ext cx="1430830" cy="1430830"/>
            </a:xfrm>
            <a:prstGeom prst="rect">
              <a:avLst/>
            </a:prstGeom>
            <a:ln w="12700">
              <a:noFill/>
            </a:ln>
          </p:spPr>
        </p:pic>
        <p:sp>
          <p:nvSpPr>
            <p:cNvPr id="36" name="テキスト ボックス 35"/>
            <p:cNvSpPr txBox="1"/>
            <p:nvPr/>
          </p:nvSpPr>
          <p:spPr>
            <a:xfrm>
              <a:off x="7682073" y="5840057"/>
              <a:ext cx="954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Pixracer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正方形/長方形 50"/>
            <p:cNvSpPr/>
            <p:nvPr/>
          </p:nvSpPr>
          <p:spPr>
            <a:xfrm>
              <a:off x="7450240" y="4409227"/>
              <a:ext cx="1420618" cy="180016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7169457" y="6139870"/>
              <a:ext cx="21959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 smtClean="0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Fright controller</a:t>
              </a:r>
              <a:endParaRPr kumimoji="1" lang="ja-JP" altLang="en-US" sz="24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グループ化 22"/>
          <p:cNvGrpSpPr/>
          <p:nvPr/>
        </p:nvGrpSpPr>
        <p:grpSpPr>
          <a:xfrm>
            <a:off x="2581665" y="4907209"/>
            <a:ext cx="2071401" cy="1882276"/>
            <a:chOff x="4553651" y="4719259"/>
            <a:chExt cx="2071401" cy="1882276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3996" y="4727559"/>
              <a:ext cx="1787456" cy="1150723"/>
            </a:xfrm>
            <a:prstGeom prst="rect">
              <a:avLst/>
            </a:prstGeom>
            <a:ln w="12700">
              <a:noFill/>
            </a:ln>
          </p:spPr>
        </p:pic>
        <p:sp>
          <p:nvSpPr>
            <p:cNvPr id="35" name="テキスト ボックス 34"/>
            <p:cNvSpPr txBox="1"/>
            <p:nvPr/>
          </p:nvSpPr>
          <p:spPr>
            <a:xfrm>
              <a:off x="4885868" y="5851791"/>
              <a:ext cx="13837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Raspberry Pi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" name="正方形/長方形 46"/>
            <p:cNvSpPr/>
            <p:nvPr/>
          </p:nvSpPr>
          <p:spPr>
            <a:xfrm>
              <a:off x="4647542" y="4719259"/>
              <a:ext cx="1853871" cy="150168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0" name="テキスト ボックス 19"/>
            <p:cNvSpPr txBox="1"/>
            <p:nvPr/>
          </p:nvSpPr>
          <p:spPr>
            <a:xfrm>
              <a:off x="4553651" y="6139870"/>
              <a:ext cx="20714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 smtClean="0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Main computer</a:t>
              </a:r>
              <a:endParaRPr kumimoji="1" lang="ja-JP" altLang="en-US" sz="24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2" name="テキスト ボックス 21"/>
          <p:cNvSpPr txBox="1"/>
          <p:nvPr/>
        </p:nvSpPr>
        <p:spPr>
          <a:xfrm>
            <a:off x="3747253" y="4398448"/>
            <a:ext cx="1836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Sensor board</a:t>
            </a:r>
            <a:endParaRPr kumimoji="1" lang="ja-JP" altLang="en-US" sz="24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9" name="グループ化 28"/>
          <p:cNvGrpSpPr/>
          <p:nvPr/>
        </p:nvGrpSpPr>
        <p:grpSpPr>
          <a:xfrm>
            <a:off x="7929851" y="2567431"/>
            <a:ext cx="2210784" cy="1729835"/>
            <a:chOff x="9104602" y="2568911"/>
            <a:chExt cx="2210784" cy="1729835"/>
          </a:xfrm>
        </p:grpSpPr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15313" y="2568911"/>
              <a:ext cx="2027757" cy="1360503"/>
            </a:xfrm>
            <a:prstGeom prst="rect">
              <a:avLst/>
            </a:prstGeom>
            <a:ln w="12700">
              <a:noFill/>
            </a:ln>
          </p:spPr>
        </p:pic>
        <p:sp>
          <p:nvSpPr>
            <p:cNvPr id="37" name="テキスト ボックス 36"/>
            <p:cNvSpPr txBox="1"/>
            <p:nvPr/>
          </p:nvSpPr>
          <p:spPr>
            <a:xfrm>
              <a:off x="9142996" y="3929414"/>
              <a:ext cx="2172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PMW3901/VL53L0x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9104602" y="2568911"/>
              <a:ext cx="2210784" cy="1729835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5271029" y="2567431"/>
            <a:ext cx="1838965" cy="1765678"/>
            <a:chOff x="7217545" y="2350255"/>
            <a:chExt cx="1838965" cy="1765678"/>
          </a:xfrm>
        </p:grpSpPr>
        <p:pic>
          <p:nvPicPr>
            <p:cNvPr id="38" name="図 3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79006" y="2350255"/>
              <a:ext cx="1716045" cy="1716045"/>
            </a:xfrm>
            <a:prstGeom prst="rect">
              <a:avLst/>
            </a:prstGeom>
            <a:ln w="12700">
              <a:solidFill>
                <a:schemeClr val="accent1"/>
              </a:solidFill>
            </a:ln>
          </p:spPr>
        </p:pic>
        <p:sp>
          <p:nvSpPr>
            <p:cNvPr id="39" name="テキスト ボックス 38"/>
            <p:cNvSpPr txBox="1"/>
            <p:nvPr/>
          </p:nvSpPr>
          <p:spPr>
            <a:xfrm>
              <a:off x="7217545" y="3746601"/>
              <a:ext cx="18389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Arduino</a:t>
              </a:r>
              <a:r>
                <a:rPr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 Mini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44" name="直線コネクタ 43"/>
          <p:cNvCxnSpPr/>
          <p:nvPr/>
        </p:nvCxnSpPr>
        <p:spPr>
          <a:xfrm>
            <a:off x="7061142" y="3216682"/>
            <a:ext cx="8640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テキスト ボックス 44"/>
          <p:cNvSpPr txBox="1"/>
          <p:nvPr/>
        </p:nvSpPr>
        <p:spPr>
          <a:xfrm>
            <a:off x="7225097" y="2870103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線コネクタ 45"/>
          <p:cNvCxnSpPr/>
          <p:nvPr/>
        </p:nvCxnSpPr>
        <p:spPr>
          <a:xfrm>
            <a:off x="7062900" y="3907684"/>
            <a:ext cx="86695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テキスト ボックス 47"/>
          <p:cNvSpPr txBox="1"/>
          <p:nvPr/>
        </p:nvSpPr>
        <p:spPr>
          <a:xfrm>
            <a:off x="7218685" y="353835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線コネクタ 49"/>
          <p:cNvCxnSpPr>
            <a:endCxn id="38" idx="1"/>
          </p:cNvCxnSpPr>
          <p:nvPr/>
        </p:nvCxnSpPr>
        <p:spPr>
          <a:xfrm>
            <a:off x="4584501" y="3425454"/>
            <a:ext cx="747989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テキスト ボックス 54"/>
          <p:cNvSpPr txBox="1"/>
          <p:nvPr/>
        </p:nvSpPr>
        <p:spPr>
          <a:xfrm>
            <a:off x="3953952" y="1919135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1202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直線コネクタ 11"/>
          <p:cNvCxnSpPr>
            <a:endCxn id="51" idx="1"/>
          </p:cNvCxnSpPr>
          <p:nvPr/>
        </p:nvCxnSpPr>
        <p:spPr>
          <a:xfrm>
            <a:off x="4502836" y="5453808"/>
            <a:ext cx="123135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6884004" y="1071989"/>
            <a:ext cx="108217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線コネクタ 20"/>
          <p:cNvCxnSpPr/>
          <p:nvPr/>
        </p:nvCxnSpPr>
        <p:spPr>
          <a:xfrm>
            <a:off x="3573927" y="4228632"/>
            <a:ext cx="0" cy="53207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テキスト ボックス 24"/>
          <p:cNvSpPr txBox="1"/>
          <p:nvPr/>
        </p:nvSpPr>
        <p:spPr>
          <a:xfrm>
            <a:off x="4780086" y="5085567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4101266" y="2768868"/>
            <a:ext cx="799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7166045" y="689071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5" name="グループ化 14"/>
          <p:cNvGrpSpPr/>
          <p:nvPr/>
        </p:nvGrpSpPr>
        <p:grpSpPr>
          <a:xfrm>
            <a:off x="5106498" y="213966"/>
            <a:ext cx="1838965" cy="1716045"/>
            <a:chOff x="2837606" y="175695"/>
            <a:chExt cx="1838965" cy="1716045"/>
          </a:xfrm>
        </p:grpSpPr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9067" y="175695"/>
              <a:ext cx="1716045" cy="1716045"/>
            </a:xfrm>
            <a:prstGeom prst="rect">
              <a:avLst/>
            </a:prstGeom>
            <a:ln w="12700">
              <a:solidFill>
                <a:schemeClr val="accent1"/>
              </a:solidFill>
            </a:ln>
          </p:spPr>
        </p:pic>
        <p:sp>
          <p:nvSpPr>
            <p:cNvPr id="32" name="テキスト ボックス 31"/>
            <p:cNvSpPr txBox="1"/>
            <p:nvPr/>
          </p:nvSpPr>
          <p:spPr>
            <a:xfrm>
              <a:off x="2837606" y="1514919"/>
              <a:ext cx="18389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Arduino</a:t>
              </a:r>
              <a:r>
                <a:rPr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 Mini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2" name="グループ化 41"/>
          <p:cNvGrpSpPr/>
          <p:nvPr/>
        </p:nvGrpSpPr>
        <p:grpSpPr>
          <a:xfrm>
            <a:off x="2080242" y="2131749"/>
            <a:ext cx="2041832" cy="2090119"/>
            <a:chOff x="4507249" y="2370126"/>
            <a:chExt cx="2041832" cy="2090119"/>
          </a:xfrm>
        </p:grpSpPr>
        <p:pic>
          <p:nvPicPr>
            <p:cNvPr id="9" name="図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3651" y="2370126"/>
              <a:ext cx="1931773" cy="1931773"/>
            </a:xfrm>
            <a:prstGeom prst="rect">
              <a:avLst/>
            </a:prstGeom>
            <a:ln w="12700">
              <a:noFill/>
            </a:ln>
          </p:spPr>
        </p:pic>
        <p:sp>
          <p:nvSpPr>
            <p:cNvPr id="34" name="テキスト ボックス 33"/>
            <p:cNvSpPr txBox="1"/>
            <p:nvPr/>
          </p:nvSpPr>
          <p:spPr>
            <a:xfrm>
              <a:off x="5059724" y="4082613"/>
              <a:ext cx="10141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NAVIO2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正方形/長方形 39"/>
            <p:cNvSpPr/>
            <p:nvPr/>
          </p:nvSpPr>
          <p:spPr>
            <a:xfrm>
              <a:off x="4507249" y="2385148"/>
              <a:ext cx="2041832" cy="2075097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" name="グループ化 4"/>
          <p:cNvGrpSpPr/>
          <p:nvPr/>
        </p:nvGrpSpPr>
        <p:grpSpPr>
          <a:xfrm>
            <a:off x="7925142" y="150700"/>
            <a:ext cx="1935145" cy="2280487"/>
            <a:chOff x="5431134" y="107180"/>
            <a:chExt cx="1935145" cy="2280487"/>
          </a:xfrm>
        </p:grpSpPr>
        <p:pic>
          <p:nvPicPr>
            <p:cNvPr id="8" name="図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72169" y="107180"/>
              <a:ext cx="1853074" cy="1853074"/>
            </a:xfrm>
            <a:prstGeom prst="rect">
              <a:avLst/>
            </a:prstGeom>
            <a:ln w="12700">
              <a:solidFill>
                <a:schemeClr val="accent1"/>
              </a:solidFill>
            </a:ln>
          </p:spPr>
        </p:pic>
        <p:sp>
          <p:nvSpPr>
            <p:cNvPr id="31" name="テキスト ボックス 30"/>
            <p:cNvSpPr txBox="1"/>
            <p:nvPr/>
          </p:nvSpPr>
          <p:spPr>
            <a:xfrm>
              <a:off x="5780588" y="1604516"/>
              <a:ext cx="12362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DWM1000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テキスト ボックス 1"/>
            <p:cNvSpPr txBox="1"/>
            <p:nvPr/>
          </p:nvSpPr>
          <p:spPr>
            <a:xfrm>
              <a:off x="5431134" y="1926002"/>
              <a:ext cx="19351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 smtClean="0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UWB antenna</a:t>
              </a:r>
              <a:endParaRPr kumimoji="1" lang="ja-JP" altLang="en-US" sz="24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テキスト ボックス 2"/>
          <p:cNvSpPr txBox="1"/>
          <p:nvPr/>
        </p:nvSpPr>
        <p:spPr>
          <a:xfrm>
            <a:off x="2981295" y="1468346"/>
            <a:ext cx="2198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 controller</a:t>
            </a:r>
            <a:endParaRPr kumimoji="1" lang="ja-JP" altLang="en-US" sz="24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7974669" y="4232613"/>
            <a:ext cx="21242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Optical flow</a:t>
            </a:r>
          </a:p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</a:p>
        </p:txBody>
      </p:sp>
      <p:grpSp>
        <p:nvGrpSpPr>
          <p:cNvPr id="24" name="グループ化 23"/>
          <p:cNvGrpSpPr/>
          <p:nvPr/>
        </p:nvGrpSpPr>
        <p:grpSpPr>
          <a:xfrm>
            <a:off x="5453412" y="4630362"/>
            <a:ext cx="2195986" cy="2192308"/>
            <a:chOff x="7169457" y="4409227"/>
            <a:chExt cx="2195986" cy="2192308"/>
          </a:xfrm>
        </p:grpSpPr>
        <p:pic>
          <p:nvPicPr>
            <p:cNvPr id="10" name="図 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40027" y="4409227"/>
              <a:ext cx="1430830" cy="1430830"/>
            </a:xfrm>
            <a:prstGeom prst="rect">
              <a:avLst/>
            </a:prstGeom>
            <a:ln w="12700">
              <a:noFill/>
            </a:ln>
          </p:spPr>
        </p:pic>
        <p:sp>
          <p:nvSpPr>
            <p:cNvPr id="36" name="テキスト ボックス 35"/>
            <p:cNvSpPr txBox="1"/>
            <p:nvPr/>
          </p:nvSpPr>
          <p:spPr>
            <a:xfrm>
              <a:off x="7682073" y="5840057"/>
              <a:ext cx="954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Pixracer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正方形/長方形 50"/>
            <p:cNvSpPr/>
            <p:nvPr/>
          </p:nvSpPr>
          <p:spPr>
            <a:xfrm>
              <a:off x="7450240" y="4409227"/>
              <a:ext cx="1420618" cy="180016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7169457" y="6139870"/>
              <a:ext cx="21959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 smtClean="0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Fright controller</a:t>
              </a:r>
              <a:endParaRPr kumimoji="1" lang="ja-JP" altLang="en-US" sz="24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グループ化 22"/>
          <p:cNvGrpSpPr/>
          <p:nvPr/>
        </p:nvGrpSpPr>
        <p:grpSpPr>
          <a:xfrm>
            <a:off x="2553101" y="4767477"/>
            <a:ext cx="2071401" cy="1882276"/>
            <a:chOff x="4553651" y="4719259"/>
            <a:chExt cx="2071401" cy="1882276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3996" y="4727559"/>
              <a:ext cx="1787456" cy="1150723"/>
            </a:xfrm>
            <a:prstGeom prst="rect">
              <a:avLst/>
            </a:prstGeom>
            <a:ln w="12700">
              <a:noFill/>
            </a:ln>
          </p:spPr>
        </p:pic>
        <p:sp>
          <p:nvSpPr>
            <p:cNvPr id="35" name="テキスト ボックス 34"/>
            <p:cNvSpPr txBox="1"/>
            <p:nvPr/>
          </p:nvSpPr>
          <p:spPr>
            <a:xfrm>
              <a:off x="4885868" y="5851791"/>
              <a:ext cx="13837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Raspberry Pi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7" name="正方形/長方形 46"/>
            <p:cNvSpPr/>
            <p:nvPr/>
          </p:nvSpPr>
          <p:spPr>
            <a:xfrm>
              <a:off x="4647542" y="4719259"/>
              <a:ext cx="1853871" cy="150168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0" name="テキスト ボックス 19"/>
            <p:cNvSpPr txBox="1"/>
            <p:nvPr/>
          </p:nvSpPr>
          <p:spPr>
            <a:xfrm>
              <a:off x="4553651" y="6139870"/>
              <a:ext cx="20714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 smtClean="0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Main computer</a:t>
              </a:r>
              <a:endParaRPr kumimoji="1" lang="ja-JP" altLang="en-US" sz="2400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2" name="テキスト ボックス 21"/>
          <p:cNvSpPr txBox="1"/>
          <p:nvPr/>
        </p:nvSpPr>
        <p:spPr>
          <a:xfrm>
            <a:off x="1323820" y="4207795"/>
            <a:ext cx="1836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Sensor board</a:t>
            </a:r>
            <a:endParaRPr kumimoji="1" lang="ja-JP" altLang="en-US" sz="24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9" name="グループ化 28"/>
          <p:cNvGrpSpPr/>
          <p:nvPr/>
        </p:nvGrpSpPr>
        <p:grpSpPr>
          <a:xfrm>
            <a:off x="7929851" y="2567431"/>
            <a:ext cx="2210784" cy="1729835"/>
            <a:chOff x="9104602" y="2568911"/>
            <a:chExt cx="2210784" cy="1729835"/>
          </a:xfrm>
        </p:grpSpPr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15313" y="2568911"/>
              <a:ext cx="2027757" cy="1360503"/>
            </a:xfrm>
            <a:prstGeom prst="rect">
              <a:avLst/>
            </a:prstGeom>
            <a:ln w="12700">
              <a:noFill/>
            </a:ln>
          </p:spPr>
        </p:pic>
        <p:sp>
          <p:nvSpPr>
            <p:cNvPr id="37" name="テキスト ボックス 36"/>
            <p:cNvSpPr txBox="1"/>
            <p:nvPr/>
          </p:nvSpPr>
          <p:spPr>
            <a:xfrm>
              <a:off x="9142996" y="3929414"/>
              <a:ext cx="2172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PMW3901/VL53L0x</a:t>
              </a:r>
              <a:endParaRPr kumimoji="1"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9104602" y="2568911"/>
              <a:ext cx="2210784" cy="1729835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44" name="直線コネクタ 43"/>
          <p:cNvCxnSpPr/>
          <p:nvPr/>
        </p:nvCxnSpPr>
        <p:spPr>
          <a:xfrm flipV="1">
            <a:off x="7108731" y="2985801"/>
            <a:ext cx="825065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テキスト ボックス 44"/>
          <p:cNvSpPr txBox="1"/>
          <p:nvPr/>
        </p:nvSpPr>
        <p:spPr>
          <a:xfrm>
            <a:off x="7262218" y="2639223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線コネクタ 45"/>
          <p:cNvCxnSpPr/>
          <p:nvPr/>
        </p:nvCxnSpPr>
        <p:spPr>
          <a:xfrm>
            <a:off x="7108731" y="3773503"/>
            <a:ext cx="829310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テキスト ボックス 47"/>
          <p:cNvSpPr txBox="1"/>
          <p:nvPr/>
        </p:nvSpPr>
        <p:spPr>
          <a:xfrm>
            <a:off x="7257929" y="340417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線コネクタ 49"/>
          <p:cNvCxnSpPr/>
          <p:nvPr/>
        </p:nvCxnSpPr>
        <p:spPr>
          <a:xfrm flipV="1">
            <a:off x="4122074" y="3159186"/>
            <a:ext cx="728848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図 25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3292" r="380" b="20362"/>
          <a:stretch/>
        </p:blipFill>
        <p:spPr>
          <a:xfrm>
            <a:off x="5105220" y="2493395"/>
            <a:ext cx="1701623" cy="1133249"/>
          </a:xfrm>
          <a:prstGeom prst="rect">
            <a:avLst/>
          </a:prstGeom>
        </p:spPr>
      </p:pic>
      <p:sp>
        <p:nvSpPr>
          <p:cNvPr id="27" name="正方形/長方形 26"/>
          <p:cNvSpPr/>
          <p:nvPr/>
        </p:nvSpPr>
        <p:spPr>
          <a:xfrm>
            <a:off x="4850922" y="2473876"/>
            <a:ext cx="2257809" cy="13920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5332456" y="3475988"/>
            <a:ext cx="1188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Teensy LC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線コネクタ 48"/>
          <p:cNvCxnSpPr>
            <a:stCxn id="6" idx="2"/>
            <a:endCxn id="27" idx="0"/>
          </p:cNvCxnSpPr>
          <p:nvPr/>
        </p:nvCxnSpPr>
        <p:spPr>
          <a:xfrm flipH="1">
            <a:off x="5979827" y="1930011"/>
            <a:ext cx="0" cy="54386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テキスト ボックス 52"/>
          <p:cNvSpPr txBox="1"/>
          <p:nvPr/>
        </p:nvSpPr>
        <p:spPr>
          <a:xfrm>
            <a:off x="4903532" y="3842485"/>
            <a:ext cx="2198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 controller</a:t>
            </a:r>
            <a:endParaRPr kumimoji="1" lang="ja-JP" altLang="en-US" sz="24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テキスト ボックス 56"/>
          <p:cNvSpPr txBox="1"/>
          <p:nvPr/>
        </p:nvSpPr>
        <p:spPr>
          <a:xfrm>
            <a:off x="5966028" y="2034390"/>
            <a:ext cx="799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1837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4767900" y="1357031"/>
            <a:ext cx="158889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644741" y="2499695"/>
                <a:ext cx="3835216" cy="6863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 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osition, velocity and 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kumimoji="1" lang="en-US" altLang="ja-JP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41" y="2499695"/>
                <a:ext cx="3835216" cy="686342"/>
              </a:xfrm>
              <a:prstGeom prst="rect">
                <a:avLst/>
              </a:prstGeom>
              <a:blipFill rotWithShape="0">
                <a:blip r:embed="rId2"/>
                <a:stretch>
                  <a:fillRect l="-792" t="-3478" r="-475" b="-34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/>
          <p:cNvCxnSpPr>
            <a:stCxn id="2" idx="2"/>
            <a:endCxn id="3" idx="0"/>
          </p:cNvCxnSpPr>
          <p:nvPr/>
        </p:nvCxnSpPr>
        <p:spPr>
          <a:xfrm>
            <a:off x="5562349" y="1726363"/>
            <a:ext cx="0" cy="7733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5626461" y="1686178"/>
                <a:ext cx="3447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 between Anchors and Tag: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461" y="1686178"/>
                <a:ext cx="3447419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1062" t="-5660" r="-7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/>
          <p:cNvSpPr txBox="1"/>
          <p:nvPr/>
        </p:nvSpPr>
        <p:spPr>
          <a:xfrm>
            <a:off x="657157" y="2658200"/>
            <a:ext cx="1674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線矢印コネクタ 8"/>
          <p:cNvCxnSpPr>
            <a:stCxn id="7" idx="3"/>
            <a:endCxn id="3" idx="1"/>
          </p:cNvCxnSpPr>
          <p:nvPr/>
        </p:nvCxnSpPr>
        <p:spPr>
          <a:xfrm>
            <a:off x="2332039" y="2842866"/>
            <a:ext cx="131270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/>
          <p:cNvSpPr txBox="1"/>
          <p:nvPr/>
        </p:nvSpPr>
        <p:spPr>
          <a:xfrm>
            <a:off x="2315291" y="2816705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altitude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1" lang="en-US" altLang="ja-JP" i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kumimoji="1" lang="ja-JP" altLang="en-US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652016" y="2434211"/>
            <a:ext cx="10141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線矢印コネクタ 27"/>
          <p:cNvCxnSpPr>
            <a:stCxn id="26" idx="1"/>
          </p:cNvCxnSpPr>
          <p:nvPr/>
        </p:nvCxnSpPr>
        <p:spPr>
          <a:xfrm flipH="1" flipV="1">
            <a:off x="7479958" y="2605441"/>
            <a:ext cx="217205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/>
              <p:cNvSpPr txBox="1"/>
              <p:nvPr/>
            </p:nvSpPr>
            <p:spPr>
              <a:xfrm>
                <a:off x="7672245" y="2634610"/>
                <a:ext cx="2203167" cy="9452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cceleration and </a:t>
                </a:r>
              </a:p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angular velocity: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2245" y="2634610"/>
                <a:ext cx="2203167" cy="945259"/>
              </a:xfrm>
              <a:prstGeom prst="rect">
                <a:avLst/>
              </a:prstGeom>
              <a:blipFill rotWithShape="0">
                <a:blip r:embed="rId4"/>
                <a:stretch>
                  <a:fillRect t="-3226" b="-12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テキスト ボックス 30"/>
          <p:cNvSpPr txBox="1"/>
          <p:nvPr/>
        </p:nvSpPr>
        <p:spPr>
          <a:xfrm>
            <a:off x="4431264" y="4177205"/>
            <a:ext cx="228780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alculate desired angle</a:t>
            </a:r>
          </a:p>
        </p:txBody>
      </p:sp>
      <p:cxnSp>
        <p:nvCxnSpPr>
          <p:cNvPr id="36" name="直線矢印コネクタ 35"/>
          <p:cNvCxnSpPr>
            <a:stCxn id="3" idx="2"/>
            <a:endCxn id="76" idx="0"/>
          </p:cNvCxnSpPr>
          <p:nvPr/>
        </p:nvCxnSpPr>
        <p:spPr>
          <a:xfrm>
            <a:off x="5562349" y="3186037"/>
            <a:ext cx="0" cy="41504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/>
          <p:cNvCxnSpPr/>
          <p:nvPr/>
        </p:nvCxnSpPr>
        <p:spPr>
          <a:xfrm flipH="1">
            <a:off x="6731894" y="3855309"/>
            <a:ext cx="116819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7913335" y="3670643"/>
                <a:ext cx="22457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et 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3335" y="3670643"/>
                <a:ext cx="224574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168" t="-8197" b="-24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テキスト ボックス 44"/>
          <p:cNvSpPr txBox="1"/>
          <p:nvPr/>
        </p:nvSpPr>
        <p:spPr>
          <a:xfrm>
            <a:off x="4596620" y="6243311"/>
            <a:ext cx="19607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線矢印コネクタ 46"/>
          <p:cNvCxnSpPr>
            <a:stCxn id="31" idx="2"/>
            <a:endCxn id="66" idx="0"/>
          </p:cNvCxnSpPr>
          <p:nvPr/>
        </p:nvCxnSpPr>
        <p:spPr>
          <a:xfrm>
            <a:off x="5575167" y="4546537"/>
            <a:ext cx="0" cy="4532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 ride servo input(1000~2000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ja-JP" alt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μ</m:t>
                    </m:r>
                    <m:r>
                      <m:rPr>
                        <m:sty m:val="p"/>
                      </m:rPr>
                      <a:rPr kumimoji="1" lang="en-US" altLang="ja-JP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sec</m:t>
                    </m:r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Ch1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Ch2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Ch3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Ch4</a:t>
                </a:r>
                <a:endParaRPr kumimoji="1" lang="ja-JP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420" t="-4717" r="-158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テキスト ボックス 65"/>
          <p:cNvSpPr txBox="1"/>
          <p:nvPr/>
        </p:nvSpPr>
        <p:spPr>
          <a:xfrm>
            <a:off x="4174783" y="4999773"/>
            <a:ext cx="28007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hange angle to servo signal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5587989" y="4557038"/>
                <a:ext cx="1218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4557038"/>
                <a:ext cx="121821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線矢印コネクタ 68"/>
          <p:cNvCxnSpPr>
            <a:stCxn id="66" idx="2"/>
            <a:endCxn id="45" idx="0"/>
          </p:cNvCxnSpPr>
          <p:nvPr/>
        </p:nvCxnSpPr>
        <p:spPr>
          <a:xfrm>
            <a:off x="5575167" y="5369105"/>
            <a:ext cx="1850" cy="8742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/>
          <p:cNvSpPr txBox="1"/>
          <p:nvPr/>
        </p:nvSpPr>
        <p:spPr>
          <a:xfrm>
            <a:off x="4418440" y="3601083"/>
            <a:ext cx="2313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PID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1" name="直線矢印コネクタ 80"/>
          <p:cNvCxnSpPr>
            <a:stCxn id="76" idx="2"/>
            <a:endCxn id="31" idx="0"/>
          </p:cNvCxnSpPr>
          <p:nvPr/>
        </p:nvCxnSpPr>
        <p:spPr>
          <a:xfrm>
            <a:off x="5575167" y="3970415"/>
            <a:ext cx="0" cy="2067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角丸四角形 103"/>
          <p:cNvSpPr/>
          <p:nvPr/>
        </p:nvSpPr>
        <p:spPr>
          <a:xfrm>
            <a:off x="3418703" y="2356243"/>
            <a:ext cx="4313063" cy="3129735"/>
          </a:xfrm>
          <a:prstGeom prst="round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角丸四角形 108"/>
          <p:cNvSpPr/>
          <p:nvPr/>
        </p:nvSpPr>
        <p:spPr>
          <a:xfrm>
            <a:off x="4497859" y="6144197"/>
            <a:ext cx="2158314" cy="555804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3114147" y="194428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4029467" y="5764364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 smtClean="0">
                <a:solidFill>
                  <a:schemeClr val="accent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solidFill>
                <a:schemeClr val="accent2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591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5474564" y="1461561"/>
            <a:ext cx="1588897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508117" y="2524101"/>
                <a:ext cx="4061254" cy="6863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osition, velocity and 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 estimation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kumimoji="1" lang="en-US" altLang="ja-JP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117" y="2524101"/>
                <a:ext cx="4061254" cy="686342"/>
              </a:xfrm>
              <a:prstGeom prst="rect">
                <a:avLst/>
              </a:prstGeom>
              <a:blipFill rotWithShape="0">
                <a:blip r:embed="rId2"/>
                <a:stretch>
                  <a:fillRect t="-3478" r="-897" b="-34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/>
          <p:cNvCxnSpPr>
            <a:stCxn id="2" idx="2"/>
          </p:cNvCxnSpPr>
          <p:nvPr/>
        </p:nvCxnSpPr>
        <p:spPr>
          <a:xfrm flipH="1">
            <a:off x="6269012" y="1821561"/>
            <a:ext cx="1" cy="6781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6369279" y="1808010"/>
                <a:ext cx="358848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Distances between Anchors and Tag: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9279" y="1808010"/>
                <a:ext cx="3588483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850" t="-5660" r="-8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/>
          <p:cNvSpPr txBox="1"/>
          <p:nvPr/>
        </p:nvSpPr>
        <p:spPr>
          <a:xfrm>
            <a:off x="3724530" y="1461561"/>
            <a:ext cx="1674882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3447563" y="191424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ltitude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1" lang="en-US" altLang="ja-JP" i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kumimoji="1" lang="ja-JP" altLang="en-US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413913" y="2537223"/>
            <a:ext cx="1014124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線矢印コネクタ 27"/>
          <p:cNvCxnSpPr>
            <a:stCxn id="26" idx="1"/>
          </p:cNvCxnSpPr>
          <p:nvPr/>
        </p:nvCxnSpPr>
        <p:spPr>
          <a:xfrm flipH="1">
            <a:off x="7569371" y="2717223"/>
            <a:ext cx="184454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/>
              <p:cNvSpPr txBox="1"/>
              <p:nvPr/>
            </p:nvSpPr>
            <p:spPr>
              <a:xfrm>
                <a:off x="7669525" y="2865349"/>
                <a:ext cx="2790572" cy="690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cceleration: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ja-JP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ja-JP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ctr"/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ngular velocity: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525" y="2865349"/>
                <a:ext cx="2790572" cy="690189"/>
              </a:xfrm>
              <a:prstGeom prst="rect">
                <a:avLst/>
              </a:prstGeom>
              <a:blipFill rotWithShape="0">
                <a:blip r:embed="rId4"/>
                <a:stretch>
                  <a:fillRect l="-873" t="-4425" b="-97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テキスト ボックス 30"/>
          <p:cNvSpPr txBox="1"/>
          <p:nvPr/>
        </p:nvSpPr>
        <p:spPr>
          <a:xfrm>
            <a:off x="4431264" y="4300428"/>
            <a:ext cx="25442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Desired angle </a:t>
            </a:r>
            <a:r>
              <a:rPr kumimoji="1"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calcuration</a:t>
            </a:r>
            <a:endParaRPr kumimoji="1" lang="en-US" altLang="ja-JP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" name="直線矢印コネクタ 35"/>
          <p:cNvCxnSpPr/>
          <p:nvPr/>
        </p:nvCxnSpPr>
        <p:spPr>
          <a:xfrm>
            <a:off x="5572887" y="3219695"/>
            <a:ext cx="0" cy="36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/>
          <p:cNvCxnSpPr/>
          <p:nvPr/>
        </p:nvCxnSpPr>
        <p:spPr>
          <a:xfrm flipH="1">
            <a:off x="6769904" y="3785749"/>
            <a:ext cx="116819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7951345" y="3601083"/>
                <a:ext cx="22935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et 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5" y="3601083"/>
                <a:ext cx="229351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122" t="-1000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テキスト ボックス 44"/>
          <p:cNvSpPr txBox="1"/>
          <p:nvPr/>
        </p:nvSpPr>
        <p:spPr>
          <a:xfrm>
            <a:off x="4596620" y="6243311"/>
            <a:ext cx="1960793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線矢印コネクタ 46"/>
          <p:cNvCxnSpPr/>
          <p:nvPr/>
        </p:nvCxnSpPr>
        <p:spPr>
          <a:xfrm>
            <a:off x="5571962" y="4660428"/>
            <a:ext cx="0" cy="36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 ride servo input(1000~2000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ja-JP" alt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μ</m:t>
                    </m:r>
                    <m:r>
                      <m:rPr>
                        <m:sty m:val="p"/>
                      </m:rPr>
                      <a:rPr kumimoji="1" lang="en-US" altLang="ja-JP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sec</m:t>
                    </m:r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Ch1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Ch2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Ch3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Ch4</a:t>
                </a:r>
                <a:endParaRPr kumimoji="1" lang="ja-JP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420" t="-4717" r="-158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テキスト ボックス 65"/>
          <p:cNvSpPr txBox="1"/>
          <p:nvPr/>
        </p:nvSpPr>
        <p:spPr>
          <a:xfrm>
            <a:off x="4174783" y="4999773"/>
            <a:ext cx="29418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hange angles to servo signal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5585212" y="4645435"/>
                <a:ext cx="1218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5212" y="4645435"/>
                <a:ext cx="121821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線矢印コネクタ 68"/>
          <p:cNvCxnSpPr/>
          <p:nvPr/>
        </p:nvCxnSpPr>
        <p:spPr>
          <a:xfrm>
            <a:off x="5571962" y="5359773"/>
            <a:ext cx="1850" cy="90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/>
          <p:cNvSpPr txBox="1"/>
          <p:nvPr/>
        </p:nvSpPr>
        <p:spPr>
          <a:xfrm>
            <a:off x="4418440" y="3601083"/>
            <a:ext cx="2326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PID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1" name="直線矢印コネクタ 80"/>
          <p:cNvCxnSpPr/>
          <p:nvPr/>
        </p:nvCxnSpPr>
        <p:spPr>
          <a:xfrm>
            <a:off x="5572887" y="3961083"/>
            <a:ext cx="0" cy="3393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角丸四角形 103"/>
          <p:cNvSpPr/>
          <p:nvPr/>
        </p:nvSpPr>
        <p:spPr>
          <a:xfrm>
            <a:off x="3319849" y="2304581"/>
            <a:ext cx="4473146" cy="3181397"/>
          </a:xfrm>
          <a:prstGeom prst="roundRect">
            <a:avLst/>
          </a:prstGeom>
          <a:noFill/>
          <a:ln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角丸四角形 108"/>
          <p:cNvSpPr/>
          <p:nvPr/>
        </p:nvSpPr>
        <p:spPr>
          <a:xfrm>
            <a:off x="4497859" y="6144197"/>
            <a:ext cx="2158314" cy="555804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7701585" y="4985044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4307278" y="5725308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 smtClean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線矢印コネクタ 13"/>
          <p:cNvCxnSpPr>
            <a:stCxn id="7" idx="2"/>
          </p:cNvCxnSpPr>
          <p:nvPr/>
        </p:nvCxnSpPr>
        <p:spPr>
          <a:xfrm>
            <a:off x="4561971" y="1821561"/>
            <a:ext cx="0" cy="6781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7391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2556</TotalTime>
  <Words>181</Words>
  <Application>Microsoft Office PowerPoint</Application>
  <PresentationFormat>ワイド画面</PresentationFormat>
  <Paragraphs>82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1" baseType="lpstr">
      <vt:lpstr>ＭＳ Ｐゴシック</vt:lpstr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翔太</dc:creator>
  <cp:lastModifiedBy>中村 翔太</cp:lastModifiedBy>
  <cp:revision>31</cp:revision>
  <dcterms:created xsi:type="dcterms:W3CDTF">2019-06-16T04:41:44Z</dcterms:created>
  <dcterms:modified xsi:type="dcterms:W3CDTF">2019-11-04T04:39:44Z</dcterms:modified>
</cp:coreProperties>
</file>