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2019/9/3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28211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2019/9/3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69194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2019/9/3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50609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2019/9/3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77642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2019/9/3</a:t>
            </a:fld>
            <a:endParaRPr kumimoji="1" lang="ja-JP" altLang="en-US" dirty="0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82210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2019/9/3</a:t>
            </a:fld>
            <a:endParaRPr kumimoji="1" lang="ja-JP" altLang="en-US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95655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2019/9/3</a:t>
            </a:fld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89633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2019/9/3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33693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2019/9/3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06994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2019/9/3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29609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2019/9/3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11837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391B90-8A79-412C-89FE-F2A94E6B2FAF}" type="datetimeFigureOut">
              <a:rPr kumimoji="1" lang="ja-JP" altLang="en-US" smtClean="0"/>
              <a:t>2019/9/3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17401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067" y="175695"/>
            <a:ext cx="1716045" cy="1716045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pic>
        <p:nvPicPr>
          <p:cNvPr id="8" name="図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8856" y="107180"/>
            <a:ext cx="1853074" cy="1853074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cxnSp>
        <p:nvCxnSpPr>
          <p:cNvPr id="12" name="直線コネクタ 11"/>
          <p:cNvCxnSpPr>
            <a:stCxn id="47" idx="3"/>
          </p:cNvCxnSpPr>
          <p:nvPr/>
        </p:nvCxnSpPr>
        <p:spPr>
          <a:xfrm>
            <a:off x="4529427" y="5658050"/>
            <a:ext cx="120476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コネクタ 16"/>
          <p:cNvCxnSpPr>
            <a:stCxn id="6" idx="3"/>
            <a:endCxn id="8" idx="1"/>
          </p:cNvCxnSpPr>
          <p:nvPr/>
        </p:nvCxnSpPr>
        <p:spPr>
          <a:xfrm flipV="1">
            <a:off x="4615112" y="1033717"/>
            <a:ext cx="793744" cy="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コネクタ 18"/>
          <p:cNvCxnSpPr/>
          <p:nvPr/>
        </p:nvCxnSpPr>
        <p:spPr>
          <a:xfrm flipH="1">
            <a:off x="3934287" y="1891740"/>
            <a:ext cx="0" cy="42412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コネクタ 20"/>
          <p:cNvCxnSpPr>
            <a:endCxn id="4" idx="0"/>
          </p:cNvCxnSpPr>
          <p:nvPr/>
        </p:nvCxnSpPr>
        <p:spPr>
          <a:xfrm>
            <a:off x="3509861" y="4383430"/>
            <a:ext cx="0" cy="53207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テキスト ボックス 24"/>
          <p:cNvSpPr txBox="1"/>
          <p:nvPr/>
        </p:nvSpPr>
        <p:spPr>
          <a:xfrm>
            <a:off x="4790700" y="5345777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USB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4557773" y="3032015"/>
            <a:ext cx="799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UART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4752938" y="687934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SPI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5717274" y="1604516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DWM1000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テキスト ボックス 31"/>
          <p:cNvSpPr txBox="1"/>
          <p:nvPr/>
        </p:nvSpPr>
        <p:spPr>
          <a:xfrm>
            <a:off x="2837606" y="1514919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 Mini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2" name="グループ化 41"/>
          <p:cNvGrpSpPr/>
          <p:nvPr/>
        </p:nvGrpSpPr>
        <p:grpSpPr>
          <a:xfrm>
            <a:off x="2542669" y="2300840"/>
            <a:ext cx="2041832" cy="2090119"/>
            <a:chOff x="4507249" y="2370126"/>
            <a:chExt cx="2041832" cy="2090119"/>
          </a:xfrm>
        </p:grpSpPr>
        <p:pic>
          <p:nvPicPr>
            <p:cNvPr id="9" name="図 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53651" y="2370126"/>
              <a:ext cx="1931773" cy="1931773"/>
            </a:xfrm>
            <a:prstGeom prst="rect">
              <a:avLst/>
            </a:prstGeom>
            <a:ln w="12700">
              <a:noFill/>
            </a:ln>
          </p:spPr>
        </p:pic>
        <p:sp>
          <p:nvSpPr>
            <p:cNvPr id="34" name="テキスト ボックス 33"/>
            <p:cNvSpPr txBox="1"/>
            <p:nvPr/>
          </p:nvSpPr>
          <p:spPr>
            <a:xfrm>
              <a:off x="5059724" y="4082613"/>
              <a:ext cx="10141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NAVIO2</a:t>
              </a:r>
              <a:endParaRPr kumimoji="1"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正方形/長方形 39"/>
            <p:cNvSpPr/>
            <p:nvPr/>
          </p:nvSpPr>
          <p:spPr>
            <a:xfrm>
              <a:off x="4507249" y="2385148"/>
              <a:ext cx="2041832" cy="2075097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" name="テキスト ボックス 1"/>
          <p:cNvSpPr txBox="1"/>
          <p:nvPr/>
        </p:nvSpPr>
        <p:spPr>
          <a:xfrm>
            <a:off x="5453412" y="1926002"/>
            <a:ext cx="19351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UWB antenna</a:t>
            </a:r>
            <a:endParaRPr kumimoji="1" lang="ja-JP" altLang="en-US" sz="2400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311118" y="1854588"/>
            <a:ext cx="21987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 controller</a:t>
            </a:r>
            <a:endParaRPr kumimoji="1" lang="ja-JP" altLang="en-US" sz="2400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7974669" y="4232613"/>
            <a:ext cx="21242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Optical flow</a:t>
            </a:r>
          </a:p>
          <a:p>
            <a:r>
              <a:rPr kumimoji="1" lang="en-US" altLang="ja-JP" sz="2400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 sensor</a:t>
            </a:r>
          </a:p>
        </p:txBody>
      </p:sp>
      <p:grpSp>
        <p:nvGrpSpPr>
          <p:cNvPr id="24" name="グループ化 23"/>
          <p:cNvGrpSpPr/>
          <p:nvPr/>
        </p:nvGrpSpPr>
        <p:grpSpPr>
          <a:xfrm>
            <a:off x="5453412" y="4630362"/>
            <a:ext cx="2195986" cy="2192308"/>
            <a:chOff x="7169457" y="4409227"/>
            <a:chExt cx="2195986" cy="2192308"/>
          </a:xfrm>
        </p:grpSpPr>
        <p:pic>
          <p:nvPicPr>
            <p:cNvPr id="10" name="図 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40027" y="4409227"/>
              <a:ext cx="1430830" cy="1430830"/>
            </a:xfrm>
            <a:prstGeom prst="rect">
              <a:avLst/>
            </a:prstGeom>
            <a:ln w="12700">
              <a:noFill/>
            </a:ln>
          </p:spPr>
        </p:pic>
        <p:sp>
          <p:nvSpPr>
            <p:cNvPr id="36" name="テキスト ボックス 35"/>
            <p:cNvSpPr txBox="1"/>
            <p:nvPr/>
          </p:nvSpPr>
          <p:spPr>
            <a:xfrm>
              <a:off x="7682073" y="5840057"/>
              <a:ext cx="9541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Pixracer</a:t>
              </a:r>
              <a:endParaRPr kumimoji="1"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正方形/長方形 50"/>
            <p:cNvSpPr/>
            <p:nvPr/>
          </p:nvSpPr>
          <p:spPr>
            <a:xfrm>
              <a:off x="7450240" y="4409227"/>
              <a:ext cx="1420618" cy="180016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テキスト ボックス 10"/>
            <p:cNvSpPr txBox="1"/>
            <p:nvPr/>
          </p:nvSpPr>
          <p:spPr>
            <a:xfrm>
              <a:off x="7169457" y="6139870"/>
              <a:ext cx="21959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dirty="0" smtClean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Fright controller</a:t>
              </a:r>
              <a:endParaRPr kumimoji="1" lang="ja-JP" altLang="en-US" sz="2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グループ化 22"/>
          <p:cNvGrpSpPr/>
          <p:nvPr/>
        </p:nvGrpSpPr>
        <p:grpSpPr>
          <a:xfrm>
            <a:off x="2581665" y="4907209"/>
            <a:ext cx="2071401" cy="1882276"/>
            <a:chOff x="4553651" y="4719259"/>
            <a:chExt cx="2071401" cy="1882276"/>
          </a:xfrm>
        </p:grpSpPr>
        <p:pic>
          <p:nvPicPr>
            <p:cNvPr id="4" name="図 3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3996" y="4727559"/>
              <a:ext cx="1787456" cy="1150723"/>
            </a:xfrm>
            <a:prstGeom prst="rect">
              <a:avLst/>
            </a:prstGeom>
            <a:ln w="12700">
              <a:noFill/>
            </a:ln>
          </p:spPr>
        </p:pic>
        <p:sp>
          <p:nvSpPr>
            <p:cNvPr id="35" name="テキスト ボックス 34"/>
            <p:cNvSpPr txBox="1"/>
            <p:nvPr/>
          </p:nvSpPr>
          <p:spPr>
            <a:xfrm>
              <a:off x="4885868" y="5851791"/>
              <a:ext cx="13837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Raspberry Pi</a:t>
              </a:r>
              <a:endParaRPr kumimoji="1"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正方形/長方形 46"/>
            <p:cNvSpPr/>
            <p:nvPr/>
          </p:nvSpPr>
          <p:spPr>
            <a:xfrm>
              <a:off x="4647542" y="4719259"/>
              <a:ext cx="1853871" cy="150168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0" name="テキスト ボックス 19"/>
            <p:cNvSpPr txBox="1"/>
            <p:nvPr/>
          </p:nvSpPr>
          <p:spPr>
            <a:xfrm>
              <a:off x="4553651" y="6139870"/>
              <a:ext cx="20714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dirty="0" smtClean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Main computer</a:t>
              </a:r>
              <a:endParaRPr kumimoji="1" lang="ja-JP" altLang="en-US" sz="2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2" name="テキスト ボックス 21"/>
          <p:cNvSpPr txBox="1"/>
          <p:nvPr/>
        </p:nvSpPr>
        <p:spPr>
          <a:xfrm>
            <a:off x="3747253" y="4398448"/>
            <a:ext cx="18363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 board</a:t>
            </a:r>
            <a:endParaRPr kumimoji="1" lang="ja-JP" altLang="en-US" sz="2400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9" name="グループ化 28"/>
          <p:cNvGrpSpPr/>
          <p:nvPr/>
        </p:nvGrpSpPr>
        <p:grpSpPr>
          <a:xfrm>
            <a:off x="7929851" y="2567431"/>
            <a:ext cx="2210784" cy="1729835"/>
            <a:chOff x="9104602" y="2568911"/>
            <a:chExt cx="2210784" cy="1729835"/>
          </a:xfrm>
        </p:grpSpPr>
        <p:pic>
          <p:nvPicPr>
            <p:cNvPr id="13" name="図 12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15313" y="2568911"/>
              <a:ext cx="2027757" cy="1360503"/>
            </a:xfrm>
            <a:prstGeom prst="rect">
              <a:avLst/>
            </a:prstGeom>
            <a:ln w="12700">
              <a:noFill/>
            </a:ln>
          </p:spPr>
        </p:pic>
        <p:sp>
          <p:nvSpPr>
            <p:cNvPr id="37" name="テキスト ボックス 36"/>
            <p:cNvSpPr txBox="1"/>
            <p:nvPr/>
          </p:nvSpPr>
          <p:spPr>
            <a:xfrm>
              <a:off x="9142996" y="3929414"/>
              <a:ext cx="21723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PMW3901/VL53L0x</a:t>
              </a:r>
              <a:endParaRPr kumimoji="1"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正方形/長方形 15"/>
            <p:cNvSpPr/>
            <p:nvPr/>
          </p:nvSpPr>
          <p:spPr>
            <a:xfrm>
              <a:off x="9104602" y="2568911"/>
              <a:ext cx="2210784" cy="1729835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8" name="グループ化 17"/>
          <p:cNvGrpSpPr/>
          <p:nvPr/>
        </p:nvGrpSpPr>
        <p:grpSpPr>
          <a:xfrm>
            <a:off x="5271029" y="2567431"/>
            <a:ext cx="1838965" cy="1765678"/>
            <a:chOff x="7217545" y="2350255"/>
            <a:chExt cx="1838965" cy="1765678"/>
          </a:xfrm>
        </p:grpSpPr>
        <p:pic>
          <p:nvPicPr>
            <p:cNvPr id="38" name="図 3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79006" y="2350255"/>
              <a:ext cx="1716045" cy="1716045"/>
            </a:xfrm>
            <a:prstGeom prst="rect">
              <a:avLst/>
            </a:prstGeom>
            <a:ln w="12700">
              <a:solidFill>
                <a:schemeClr val="accent1"/>
              </a:solidFill>
            </a:ln>
          </p:spPr>
        </p:pic>
        <p:sp>
          <p:nvSpPr>
            <p:cNvPr id="39" name="テキスト ボックス 38"/>
            <p:cNvSpPr txBox="1"/>
            <p:nvPr/>
          </p:nvSpPr>
          <p:spPr>
            <a:xfrm>
              <a:off x="7217545" y="3746601"/>
              <a:ext cx="18389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Arduino</a:t>
              </a:r>
              <a:r>
                <a:rPr lang="ja-JP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ja-JP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 Mini</a:t>
              </a:r>
              <a:endParaRPr kumimoji="1"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44" name="直線コネクタ 43"/>
          <p:cNvCxnSpPr/>
          <p:nvPr/>
        </p:nvCxnSpPr>
        <p:spPr>
          <a:xfrm>
            <a:off x="7061142" y="3216682"/>
            <a:ext cx="86400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テキスト ボックス 44"/>
          <p:cNvSpPr txBox="1"/>
          <p:nvPr/>
        </p:nvSpPr>
        <p:spPr>
          <a:xfrm>
            <a:off x="7225097" y="2870103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SPI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" name="直線コネクタ 45"/>
          <p:cNvCxnSpPr/>
          <p:nvPr/>
        </p:nvCxnSpPr>
        <p:spPr>
          <a:xfrm>
            <a:off x="7062900" y="3907684"/>
            <a:ext cx="866951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テキスト ボックス 47"/>
          <p:cNvSpPr txBox="1"/>
          <p:nvPr/>
        </p:nvSpPr>
        <p:spPr>
          <a:xfrm>
            <a:off x="7218685" y="3538351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I2C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0" name="直線コネクタ 49"/>
          <p:cNvCxnSpPr>
            <a:endCxn id="38" idx="1"/>
          </p:cNvCxnSpPr>
          <p:nvPr/>
        </p:nvCxnSpPr>
        <p:spPr>
          <a:xfrm>
            <a:off x="4584501" y="3425454"/>
            <a:ext cx="747989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テキスト ボックス 54"/>
          <p:cNvSpPr txBox="1"/>
          <p:nvPr/>
        </p:nvSpPr>
        <p:spPr>
          <a:xfrm>
            <a:off x="3953952" y="1919135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I2C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1202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4767900" y="1357031"/>
            <a:ext cx="158889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UWB Modules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/>
              <p:cNvSpPr txBox="1"/>
              <p:nvPr/>
            </p:nvSpPr>
            <p:spPr>
              <a:xfrm>
                <a:off x="3644741" y="2499695"/>
                <a:ext cx="3835216" cy="68634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estimate p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osition, velocity and 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attitude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altLang="ja-JP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</m:acc>
                    </m:oMath>
                  </m:oMathPara>
                </a14:m>
                <a:endParaRPr kumimoji="1" lang="en-US" altLang="ja-JP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テキスト ボックス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4741" y="2499695"/>
                <a:ext cx="3835216" cy="686342"/>
              </a:xfrm>
              <a:prstGeom prst="rect">
                <a:avLst/>
              </a:prstGeom>
              <a:blipFill rotWithShape="0">
                <a:blip r:embed="rId2"/>
                <a:stretch>
                  <a:fillRect l="-792" t="-3478" r="-475" b="-347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矢印コネクタ 4"/>
          <p:cNvCxnSpPr>
            <a:stCxn id="2" idx="2"/>
            <a:endCxn id="3" idx="0"/>
          </p:cNvCxnSpPr>
          <p:nvPr/>
        </p:nvCxnSpPr>
        <p:spPr>
          <a:xfrm>
            <a:off x="5562349" y="1726363"/>
            <a:ext cx="0" cy="7733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/>
              <p:cNvSpPr txBox="1"/>
              <p:nvPr/>
            </p:nvSpPr>
            <p:spPr>
              <a:xfrm>
                <a:off x="5626461" y="1686178"/>
                <a:ext cx="344741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distance between Anchors and Tag: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ja-JP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テキスト ボックス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6461" y="1686178"/>
                <a:ext cx="3447419" cy="646331"/>
              </a:xfrm>
              <a:prstGeom prst="rect">
                <a:avLst/>
              </a:prstGeom>
              <a:blipFill rotWithShape="0">
                <a:blip r:embed="rId3"/>
                <a:stretch>
                  <a:fillRect l="-1062" t="-5660" r="-70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テキスト ボックス 6"/>
          <p:cNvSpPr txBox="1"/>
          <p:nvPr/>
        </p:nvSpPr>
        <p:spPr>
          <a:xfrm>
            <a:off x="657157" y="2658200"/>
            <a:ext cx="167488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Sensor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線矢印コネクタ 8"/>
          <p:cNvCxnSpPr>
            <a:stCxn id="7" idx="3"/>
            <a:endCxn id="3" idx="1"/>
          </p:cNvCxnSpPr>
          <p:nvPr/>
        </p:nvCxnSpPr>
        <p:spPr>
          <a:xfrm>
            <a:off x="2332039" y="2842866"/>
            <a:ext cx="131270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/>
          <p:cNvSpPr txBox="1"/>
          <p:nvPr/>
        </p:nvSpPr>
        <p:spPr>
          <a:xfrm>
            <a:off x="2315291" y="2816705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altitude</a:t>
            </a:r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1" lang="en-US" altLang="ja-JP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kumimoji="1" lang="ja-JP" altLang="en-US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9652016" y="2434211"/>
            <a:ext cx="101412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NAVIO2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直線矢印コネクタ 27"/>
          <p:cNvCxnSpPr>
            <a:stCxn id="26" idx="1"/>
          </p:cNvCxnSpPr>
          <p:nvPr/>
        </p:nvCxnSpPr>
        <p:spPr>
          <a:xfrm flipH="1" flipV="1">
            <a:off x="7479958" y="2605441"/>
            <a:ext cx="217205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テキスト ボックス 28"/>
              <p:cNvSpPr txBox="1"/>
              <p:nvPr/>
            </p:nvSpPr>
            <p:spPr>
              <a:xfrm>
                <a:off x="7672245" y="2634610"/>
                <a:ext cx="2203167" cy="945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cceleration and </a:t>
                </a:r>
              </a:p>
              <a:p>
                <a:pPr algn="ctr"/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angular velocity: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29" name="テキスト ボックス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2245" y="2634610"/>
                <a:ext cx="2203167" cy="945259"/>
              </a:xfrm>
              <a:prstGeom prst="rect">
                <a:avLst/>
              </a:prstGeom>
              <a:blipFill rotWithShape="0">
                <a:blip r:embed="rId4"/>
                <a:stretch>
                  <a:fillRect t="-3226" b="-129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テキスト ボックス 30"/>
          <p:cNvSpPr txBox="1"/>
          <p:nvPr/>
        </p:nvSpPr>
        <p:spPr>
          <a:xfrm>
            <a:off x="4431264" y="4177205"/>
            <a:ext cx="228780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alculate desired angle</a:t>
            </a:r>
          </a:p>
        </p:txBody>
      </p:sp>
      <p:cxnSp>
        <p:nvCxnSpPr>
          <p:cNvPr id="36" name="直線矢印コネクタ 35"/>
          <p:cNvCxnSpPr>
            <a:stCxn id="3" idx="2"/>
            <a:endCxn id="76" idx="0"/>
          </p:cNvCxnSpPr>
          <p:nvPr/>
        </p:nvCxnSpPr>
        <p:spPr>
          <a:xfrm>
            <a:off x="5562349" y="3186037"/>
            <a:ext cx="0" cy="4150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矢印コネクタ 39"/>
          <p:cNvCxnSpPr/>
          <p:nvPr/>
        </p:nvCxnSpPr>
        <p:spPr>
          <a:xfrm flipH="1">
            <a:off x="6731894" y="3855309"/>
            <a:ext cx="116819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/>
              <p:cNvSpPr txBox="1"/>
              <p:nvPr/>
            </p:nvSpPr>
            <p:spPr>
              <a:xfrm>
                <a:off x="7913335" y="3670643"/>
                <a:ext cx="22457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et position: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kumimoji="1" lang="ja-JP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" name="テキスト ボックス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3335" y="3670643"/>
                <a:ext cx="224574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2168" t="-8197" b="-2459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テキスト ボックス 44"/>
          <p:cNvSpPr txBox="1"/>
          <p:nvPr/>
        </p:nvSpPr>
        <p:spPr>
          <a:xfrm>
            <a:off x="4596620" y="6243311"/>
            <a:ext cx="196079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Attitude controller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直線矢印コネクタ 46"/>
          <p:cNvCxnSpPr>
            <a:stCxn id="31" idx="2"/>
            <a:endCxn id="66" idx="0"/>
          </p:cNvCxnSpPr>
          <p:nvPr/>
        </p:nvCxnSpPr>
        <p:spPr>
          <a:xfrm>
            <a:off x="5575167" y="4546537"/>
            <a:ext cx="0" cy="4532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テキスト ボックス 47"/>
              <p:cNvSpPr txBox="1"/>
              <p:nvPr/>
            </p:nvSpPr>
            <p:spPr>
              <a:xfrm>
                <a:off x="5587989" y="5476863"/>
                <a:ext cx="386516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 ride servo input(1000~2000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ja-JP" altLang="en-US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kumimoji="1" lang="en-US" altLang="ja-JP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sec</m:t>
                    </m:r>
                  </m:oMath>
                </a14:m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</a:p>
              <a:p>
                <a:r>
                  <a:rPr lang="en-US" altLang="ja-JP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Ch1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ja-JP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Ch2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ja-JP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Ch3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ja-JP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Ch4</a:t>
                </a:r>
                <a:endParaRPr kumimoji="1" lang="ja-JP" alt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テキスト ボックス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989" y="5476863"/>
                <a:ext cx="3865161" cy="646331"/>
              </a:xfrm>
              <a:prstGeom prst="rect">
                <a:avLst/>
              </a:prstGeom>
              <a:blipFill rotWithShape="0">
                <a:blip r:embed="rId6"/>
                <a:stretch>
                  <a:fillRect l="-1420" t="-4717" r="-158" b="-141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テキスト ボックス 65"/>
          <p:cNvSpPr txBox="1"/>
          <p:nvPr/>
        </p:nvSpPr>
        <p:spPr>
          <a:xfrm>
            <a:off x="4174783" y="4999773"/>
            <a:ext cx="28007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hange angle to servo signal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テキスト ボックス 66"/>
              <p:cNvSpPr txBox="1"/>
              <p:nvPr/>
            </p:nvSpPr>
            <p:spPr>
              <a:xfrm>
                <a:off x="5587989" y="4557038"/>
                <a:ext cx="12182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67" name="テキスト ボックス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989" y="4557038"/>
                <a:ext cx="1218219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直線矢印コネクタ 68"/>
          <p:cNvCxnSpPr>
            <a:stCxn id="66" idx="2"/>
            <a:endCxn id="45" idx="0"/>
          </p:cNvCxnSpPr>
          <p:nvPr/>
        </p:nvCxnSpPr>
        <p:spPr>
          <a:xfrm>
            <a:off x="5575167" y="5369105"/>
            <a:ext cx="1850" cy="87420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テキスト ボックス 75"/>
          <p:cNvSpPr txBox="1"/>
          <p:nvPr/>
        </p:nvSpPr>
        <p:spPr>
          <a:xfrm>
            <a:off x="4418440" y="3601083"/>
            <a:ext cx="23134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osition PID controller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1" name="直線矢印コネクタ 80"/>
          <p:cNvCxnSpPr>
            <a:stCxn id="76" idx="2"/>
            <a:endCxn id="31" idx="0"/>
          </p:cNvCxnSpPr>
          <p:nvPr/>
        </p:nvCxnSpPr>
        <p:spPr>
          <a:xfrm>
            <a:off x="5575167" y="3970415"/>
            <a:ext cx="0" cy="2067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角丸四角形 103"/>
          <p:cNvSpPr/>
          <p:nvPr/>
        </p:nvSpPr>
        <p:spPr>
          <a:xfrm>
            <a:off x="3418703" y="2356243"/>
            <a:ext cx="4313063" cy="3129735"/>
          </a:xfrm>
          <a:prstGeom prst="round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" name="角丸四角形 108"/>
          <p:cNvSpPr/>
          <p:nvPr/>
        </p:nvSpPr>
        <p:spPr>
          <a:xfrm>
            <a:off x="4497859" y="6144197"/>
            <a:ext cx="2158314" cy="555804"/>
          </a:xfrm>
          <a:prstGeom prst="round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6" name="テキスト ボックス 115"/>
          <p:cNvSpPr txBox="1"/>
          <p:nvPr/>
        </p:nvSpPr>
        <p:spPr>
          <a:xfrm>
            <a:off x="3114147" y="1944286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Raspberry Pi</a:t>
            </a:r>
            <a:endParaRPr kumimoji="1" lang="ja-JP" alt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テキスト ボックス 116"/>
          <p:cNvSpPr txBox="1"/>
          <p:nvPr/>
        </p:nvSpPr>
        <p:spPr>
          <a:xfrm>
            <a:off x="4029467" y="5764364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 smtClean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Pixracer</a:t>
            </a:r>
            <a:endParaRPr kumimoji="1" lang="ja-JP" altLang="en-US" dirty="0"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591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5474564" y="1461561"/>
            <a:ext cx="1588897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UWB Modules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/>
              <p:cNvSpPr txBox="1"/>
              <p:nvPr/>
            </p:nvSpPr>
            <p:spPr>
              <a:xfrm>
                <a:off x="3508117" y="2524101"/>
                <a:ext cx="4061254" cy="68634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osition, velocity and 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attitude estimation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altLang="ja-JP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</m:acc>
                    </m:oMath>
                  </m:oMathPara>
                </a14:m>
                <a:endParaRPr kumimoji="1" lang="en-US" altLang="ja-JP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テキスト ボックス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8117" y="2524101"/>
                <a:ext cx="4061254" cy="686342"/>
              </a:xfrm>
              <a:prstGeom prst="rect">
                <a:avLst/>
              </a:prstGeom>
              <a:blipFill rotWithShape="0">
                <a:blip r:embed="rId2"/>
                <a:stretch>
                  <a:fillRect t="-3478" r="-897" b="-347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矢印コネクタ 4"/>
          <p:cNvCxnSpPr>
            <a:stCxn id="2" idx="2"/>
          </p:cNvCxnSpPr>
          <p:nvPr/>
        </p:nvCxnSpPr>
        <p:spPr>
          <a:xfrm flipH="1">
            <a:off x="6269012" y="1821561"/>
            <a:ext cx="1" cy="67813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/>
              <p:cNvSpPr txBox="1"/>
              <p:nvPr/>
            </p:nvSpPr>
            <p:spPr>
              <a:xfrm>
                <a:off x="6369279" y="1808010"/>
                <a:ext cx="358848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Distances between Anchors and Tag: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ja-JP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テキスト ボックス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9279" y="1808010"/>
                <a:ext cx="3588483" cy="646331"/>
              </a:xfrm>
              <a:prstGeom prst="rect">
                <a:avLst/>
              </a:prstGeom>
              <a:blipFill rotWithShape="0">
                <a:blip r:embed="rId3"/>
                <a:stretch>
                  <a:fillRect l="-850" t="-5660" r="-8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テキスト ボックス 6"/>
          <p:cNvSpPr txBox="1"/>
          <p:nvPr/>
        </p:nvSpPr>
        <p:spPr>
          <a:xfrm>
            <a:off x="3724530" y="1461561"/>
            <a:ext cx="1674882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Sensor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3447563" y="1914246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ltitude</a:t>
            </a:r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1" lang="en-US" altLang="ja-JP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kumimoji="1" lang="ja-JP" altLang="en-US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9413913" y="2537223"/>
            <a:ext cx="1014124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NAVIO2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直線矢印コネクタ 27"/>
          <p:cNvCxnSpPr>
            <a:stCxn id="26" idx="1"/>
          </p:cNvCxnSpPr>
          <p:nvPr/>
        </p:nvCxnSpPr>
        <p:spPr>
          <a:xfrm flipH="1">
            <a:off x="7569371" y="2717223"/>
            <a:ext cx="184454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テキスト ボックス 28"/>
              <p:cNvSpPr txBox="1"/>
              <p:nvPr/>
            </p:nvSpPr>
            <p:spPr>
              <a:xfrm>
                <a:off x="7669525" y="2865349"/>
                <a:ext cx="2790572" cy="690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cceleration: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ctr"/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ngular velocity: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ja-JP" alt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ja-JP" alt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ja-JP" alt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29" name="テキスト ボックス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525" y="2865349"/>
                <a:ext cx="2790572" cy="690189"/>
              </a:xfrm>
              <a:prstGeom prst="rect">
                <a:avLst/>
              </a:prstGeom>
              <a:blipFill rotWithShape="0">
                <a:blip r:embed="rId4"/>
                <a:stretch>
                  <a:fillRect l="-873" t="-4425" b="-973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テキスト ボックス 30"/>
          <p:cNvSpPr txBox="1"/>
          <p:nvPr/>
        </p:nvSpPr>
        <p:spPr>
          <a:xfrm>
            <a:off x="4431264" y="4300428"/>
            <a:ext cx="25442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Desired angle </a:t>
            </a:r>
            <a:r>
              <a:rPr kumimoji="1" lang="en-US" altLang="ja-JP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calcuration</a:t>
            </a:r>
            <a:endParaRPr kumimoji="1" lang="en-US" altLang="ja-JP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6" name="直線矢印コネクタ 35"/>
          <p:cNvCxnSpPr/>
          <p:nvPr/>
        </p:nvCxnSpPr>
        <p:spPr>
          <a:xfrm>
            <a:off x="5572887" y="3219695"/>
            <a:ext cx="0" cy="360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矢印コネクタ 39"/>
          <p:cNvCxnSpPr/>
          <p:nvPr/>
        </p:nvCxnSpPr>
        <p:spPr>
          <a:xfrm flipH="1">
            <a:off x="6769904" y="3785749"/>
            <a:ext cx="116819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/>
              <p:cNvSpPr txBox="1"/>
              <p:nvPr/>
            </p:nvSpPr>
            <p:spPr>
              <a:xfrm>
                <a:off x="7951345" y="3601083"/>
                <a:ext cx="22935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et position: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kumimoji="1" lang="ja-JP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" name="テキスト ボックス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345" y="3601083"/>
                <a:ext cx="229351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2122" t="-10000" b="-2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テキスト ボックス 44"/>
          <p:cNvSpPr txBox="1"/>
          <p:nvPr/>
        </p:nvSpPr>
        <p:spPr>
          <a:xfrm>
            <a:off x="4596620" y="6243311"/>
            <a:ext cx="1960793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Attitude controller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直線矢印コネクタ 46"/>
          <p:cNvCxnSpPr/>
          <p:nvPr/>
        </p:nvCxnSpPr>
        <p:spPr>
          <a:xfrm>
            <a:off x="5571962" y="4660428"/>
            <a:ext cx="0" cy="360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テキスト ボックス 47"/>
              <p:cNvSpPr txBox="1"/>
              <p:nvPr/>
            </p:nvSpPr>
            <p:spPr>
              <a:xfrm>
                <a:off x="5587989" y="5476863"/>
                <a:ext cx="386516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 ride servo input(1000~2000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ja-JP" altLang="en-US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kumimoji="1" lang="en-US" altLang="ja-JP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sec</m:t>
                    </m:r>
                  </m:oMath>
                </a14:m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</a:p>
              <a:p>
                <a:r>
                  <a:rPr lang="en-US" altLang="ja-JP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Ch1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ja-JP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Ch2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ja-JP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Ch3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ja-JP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Ch4</a:t>
                </a:r>
                <a:endParaRPr kumimoji="1" lang="ja-JP" alt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テキスト ボックス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989" y="5476863"/>
                <a:ext cx="3865161" cy="646331"/>
              </a:xfrm>
              <a:prstGeom prst="rect">
                <a:avLst/>
              </a:prstGeom>
              <a:blipFill rotWithShape="0">
                <a:blip r:embed="rId6"/>
                <a:stretch>
                  <a:fillRect l="-1420" t="-4717" r="-158" b="-141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テキスト ボックス 65"/>
          <p:cNvSpPr txBox="1"/>
          <p:nvPr/>
        </p:nvSpPr>
        <p:spPr>
          <a:xfrm>
            <a:off x="4174783" y="4999773"/>
            <a:ext cx="294183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hange angles to servo signal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テキスト ボックス 66"/>
              <p:cNvSpPr txBox="1"/>
              <p:nvPr/>
            </p:nvSpPr>
            <p:spPr>
              <a:xfrm>
                <a:off x="5585212" y="4645435"/>
                <a:ext cx="12182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67" name="テキスト ボックス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5212" y="4645435"/>
                <a:ext cx="1218219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直線矢印コネクタ 68"/>
          <p:cNvCxnSpPr/>
          <p:nvPr/>
        </p:nvCxnSpPr>
        <p:spPr>
          <a:xfrm>
            <a:off x="5571962" y="5359773"/>
            <a:ext cx="1850" cy="900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テキスト ボックス 75"/>
          <p:cNvSpPr txBox="1"/>
          <p:nvPr/>
        </p:nvSpPr>
        <p:spPr>
          <a:xfrm>
            <a:off x="4418440" y="3601083"/>
            <a:ext cx="232627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osition PID controller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1" name="直線矢印コネクタ 80"/>
          <p:cNvCxnSpPr/>
          <p:nvPr/>
        </p:nvCxnSpPr>
        <p:spPr>
          <a:xfrm>
            <a:off x="5572887" y="3961083"/>
            <a:ext cx="0" cy="3393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角丸四角形 103"/>
          <p:cNvSpPr/>
          <p:nvPr/>
        </p:nvSpPr>
        <p:spPr>
          <a:xfrm>
            <a:off x="3319849" y="2304581"/>
            <a:ext cx="4473146" cy="3181397"/>
          </a:xfrm>
          <a:prstGeom prst="roundRect">
            <a:avLst/>
          </a:prstGeom>
          <a:noFill/>
          <a:ln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" name="角丸四角形 108"/>
          <p:cNvSpPr/>
          <p:nvPr/>
        </p:nvSpPr>
        <p:spPr>
          <a:xfrm>
            <a:off x="4497859" y="6144197"/>
            <a:ext cx="2158314" cy="555804"/>
          </a:xfrm>
          <a:prstGeom prst="roundRect">
            <a:avLst/>
          </a:prstGeom>
          <a:noFill/>
          <a:ln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16" name="テキスト ボックス 115"/>
          <p:cNvSpPr txBox="1"/>
          <p:nvPr/>
        </p:nvSpPr>
        <p:spPr>
          <a:xfrm>
            <a:off x="7701585" y="4985044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Raspberry Pi</a:t>
            </a:r>
            <a:endParaRPr kumimoji="1" lang="ja-JP" altLang="en-US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テキスト ボックス 116"/>
          <p:cNvSpPr txBox="1"/>
          <p:nvPr/>
        </p:nvSpPr>
        <p:spPr>
          <a:xfrm>
            <a:off x="4307278" y="5725308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Pixracer</a:t>
            </a:r>
            <a:endParaRPr kumimoji="1" lang="ja-JP" altLang="en-US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線矢印コネクタ 13"/>
          <p:cNvCxnSpPr>
            <a:stCxn id="7" idx="2"/>
          </p:cNvCxnSpPr>
          <p:nvPr/>
        </p:nvCxnSpPr>
        <p:spPr>
          <a:xfrm>
            <a:off x="4561971" y="1821561"/>
            <a:ext cx="0" cy="678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7391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2538</TotalTime>
  <Words>148</Words>
  <Application>Microsoft Office PowerPoint</Application>
  <PresentationFormat>ワイド画面</PresentationFormat>
  <Paragraphs>61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10" baseType="lpstr">
      <vt:lpstr>ＭＳ Ｐゴシック</vt:lpstr>
      <vt:lpstr>Arial</vt:lpstr>
      <vt:lpstr>Calibri</vt:lpstr>
      <vt:lpstr>Calibri Light</vt:lpstr>
      <vt:lpstr>Cambria Math</vt:lpstr>
      <vt:lpstr>Times New Roman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翔太</dc:creator>
  <cp:lastModifiedBy>中村 翔太</cp:lastModifiedBy>
  <cp:revision>28</cp:revision>
  <dcterms:created xsi:type="dcterms:W3CDTF">2019-06-16T04:41:44Z</dcterms:created>
  <dcterms:modified xsi:type="dcterms:W3CDTF">2019-09-04T01:29:52Z</dcterms:modified>
</cp:coreProperties>
</file>